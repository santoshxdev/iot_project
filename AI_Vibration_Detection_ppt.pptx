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.jpg" ContentType="image/jpg"/>
  <Override PartName="/ppt/media/image3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76" r:id="rId15"/>
    <p:sldId id="277" r:id="rId16"/>
    <p:sldId id="278" r:id="rId17"/>
    <p:sldId id="27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47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725912" cy="1737360"/>
          </a:xfrm>
          <a:prstGeom prst="roundRect">
            <a:avLst>
              <a:gd name="adj" fmla="val 5263"/>
            </a:avLst>
          </a:prstGeom>
          <a:solidFill>
            <a:srgbClr val="3333B2"/>
          </a:solidFill>
          <a:ln>
            <a:solidFill>
              <a:srgbClr val="3333B2"/>
            </a:solidFill>
          </a:ln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Vibration Detection System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ESP32 and MPU6050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Sandeep - 2520030523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47872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Teja - 2520030241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86784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- 2520030474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25696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- 2520030496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1324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Bachupally, Hyderabad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0350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7160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4884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2608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2608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System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0332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0332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Hardware Components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8056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48056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Complete Hardware Connection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25780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25780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Hardware Connections / Pin Details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137160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37160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AI Model Architecture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14884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4884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Results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292608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92608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Applications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70332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70332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480560"/>
            <a:ext cx="420624" cy="42062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480560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F4E9A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5" name="Oval 4"/>
          <p:cNvSpPr/>
          <p:nvPr/>
        </p:nvSpPr>
        <p:spPr>
          <a:xfrm>
            <a:off x="548640" y="1115568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515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Detect real-time vibration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51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Use the MPU6050 sensor to sense movement and shaking as it happens.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682496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184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Read accelerometer and gyroscope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18488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The accelerometer gives movement on the X, Y and Z axes; the gyroscope gives rotation.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49423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85415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Process data on the 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85415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The ESP32 receives the sensor readings over I2C and handles them on the spot.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16351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5234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Extract useful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52344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Convert raw readings into inputs the model can use to tell the two conditions apart.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383279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1927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Classify NORMAL or VIBRATION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319272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The machine-learning model decides which condition the readings show.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950208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Run the model on the ESP32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862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Inference happens on the chip itself, so no cloud or internet is needed.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517136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53127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Use TensorFlow Lite Micro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453127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A library built to run small AI models on microcontrollers with limited memory.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084064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2005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Trigger a physical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20056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The LED lights up and the motor/output responds when vibration is detected.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650992"/>
            <a:ext cx="329184" cy="329184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86983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Build a low-cost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586983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4E9A"/>
                </a:solidFill>
                <a:latin typeface="Calibri"/>
              </a:rPr>
              <a:t>Show that edge-AI vibration monitoring is possible with inexpensive parts.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5" name="Problem Card"/>
          <p:cNvSpPr txBox="1"/>
          <p:nvPr/>
        </p:nvSpPr>
        <p:spPr>
          <a:xfrm>
            <a:off x="548640" y="1005840"/>
            <a:ext cx="5425440" cy="4297680"/>
          </a:xfrm>
          <a:prstGeom prst="roundRect">
            <a:avLst>
              <a:gd name="adj" fmla="val 3500"/>
            </a:avLst>
          </a:prstGeom>
          <a:solidFill>
            <a:srgbClr val="EEF0FB"/>
          </a:solidFill>
          <a:ln>
            <a:noFill/>
          </a:ln>
        </p:spPr>
        <p:txBody>
          <a:bodyPr wrap="square" lIns="228600" tIns="182880" rIns="228600" bIns="18288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fall short: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limit-based systems cannot tell normal movement from a meaningful vibration pattern.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show up early as vibration: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vibration can appear before a machine visibly fails.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must be continuous: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constant watching gives early detection.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chip, limited resources: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devices have little memory and computing power.</a:t>
            </a:r>
          </a:p>
        </p:txBody>
      </p:sp>
      <p:sp>
        <p:nvSpPr>
          <p:cNvPr id="6" name="Solution Card"/>
          <p:cNvSpPr txBox="1"/>
          <p:nvPr/>
        </p:nvSpPr>
        <p:spPr>
          <a:xfrm>
            <a:off x="6278880" y="1005840"/>
            <a:ext cx="5425440" cy="4297680"/>
          </a:xfrm>
          <a:prstGeom prst="roundRect">
            <a:avLst>
              <a:gd name="adj" fmla="val 3500"/>
            </a:avLst>
          </a:prstGeom>
          <a:solidFill>
            <a:srgbClr val="EEF0FB"/>
          </a:solidFill>
          <a:ln>
            <a:noFill/>
          </a:ln>
        </p:spPr>
        <p:txBody>
          <a:bodyPr wrap="square" lIns="228600" tIns="182880" rIns="228600" bIns="18288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Doing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MPU6050 reads accelerometer and gyroscope data and sends it to the ESP32 over I2C.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the readings train a machine-learning model to tell NORMAL from VIBRATION.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the chip: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converted to TensorFlow Lite Micro and runs on the ESP32, with no cloud.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in real time: </a:t>
            </a:r>
            <a:r>
              <a:rPr lang="en-US" sz="18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 and motor output react as soon as vibration is detected.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3333B2"/>
          </a:solidFill>
          <a:ln w="15875">
            <a:solidFill>
              <a:srgbClr val="3333B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a compact, low-cost embedded AI system that detects vibration patterns in real time, right on the microcontroller.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8869680" cy="694944"/>
          </a:xfrm>
          <a:prstGeom prst="roundRect">
            <a:avLst>
              <a:gd name="adj" fmla="val 12000"/>
            </a:avLst>
          </a:prstGeom>
          <a:solidFill>
            <a:srgbClr val="EEF0FB"/>
          </a:solidFill>
          <a:ln w="15875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069848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960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MPU6050 Senses Vibration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2529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Reads accelerometer and gyroscope data</a:t>
            </a:r>
          </a:p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Communicates with ESP32 via I2C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987552"/>
            <a:ext cx="2697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98755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33B2"/>
                </a:solidFill>
                <a:latin typeface="Calibri"/>
              </a:rPr>
              <a:t>Component:</a:t>
            </a:r>
          </a:p>
          <a:p>
            <a:pPr algn="l"/>
            <a:r>
              <a:rPr sz="1100" b="0">
                <a:solidFill>
                  <a:srgbClr val="1F4E9A"/>
                </a:solidFill>
                <a:latin typeface="Calibri"/>
              </a:rPr>
              <a:t>MPU6050 (Sensor)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1609344"/>
            <a:ext cx="0" cy="109728"/>
          </a:xfrm>
          <a:prstGeom prst="line">
            <a:avLst/>
          </a:prstGeom>
          <a:ln w="2540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1719072"/>
            <a:ext cx="8869680" cy="694944"/>
          </a:xfrm>
          <a:prstGeom prst="roundRect">
            <a:avLst>
              <a:gd name="adj" fmla="val 12000"/>
            </a:avLst>
          </a:prstGeom>
          <a:solidFill>
            <a:srgbClr val="EEF0FB"/>
          </a:solidFill>
          <a:ln w="15875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1874519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76479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ESP32 Receives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29967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Gets sensor readings over I2C</a:t>
            </a:r>
          </a:p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Collects data continuously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792224"/>
            <a:ext cx="2697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792224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33B2"/>
                </a:solidFill>
                <a:latin typeface="Calibri"/>
              </a:rPr>
              <a:t>Component:</a:t>
            </a:r>
          </a:p>
          <a:p>
            <a:pPr algn="l"/>
            <a:r>
              <a:rPr sz="1100" b="0">
                <a:solidFill>
                  <a:srgbClr val="1F4E9A"/>
                </a:solidFill>
                <a:latin typeface="Calibri"/>
              </a:rPr>
              <a:t>ESP32 (Microcontroller)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2414015"/>
            <a:ext cx="0" cy="109729"/>
          </a:xfrm>
          <a:prstGeom prst="line">
            <a:avLst/>
          </a:prstGeom>
          <a:ln w="2540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2523744"/>
            <a:ext cx="8869680" cy="694944"/>
          </a:xfrm>
          <a:prstGeom prst="roundRect">
            <a:avLst>
              <a:gd name="adj" fmla="val 12000"/>
            </a:avLst>
          </a:prstGeom>
          <a:solidFill>
            <a:srgbClr val="EEF0FB"/>
          </a:solidFill>
          <a:ln w="15875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2679191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569463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Data Processing &amp; Feature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834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Cleans and processes the raw data</a:t>
            </a:r>
          </a:p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Extracts useful features for the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2596896"/>
            <a:ext cx="2697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596896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33B2"/>
                </a:solidFill>
                <a:latin typeface="Calibri"/>
              </a:rPr>
              <a:t>Component:</a:t>
            </a:r>
          </a:p>
          <a:p>
            <a:pPr algn="l"/>
            <a:r>
              <a:rPr sz="1100" b="0">
                <a:solidFill>
                  <a:srgbClr val="1F4E9A"/>
                </a:solidFill>
                <a:latin typeface="Calibri"/>
              </a:rPr>
              <a:t>ESP32 (On-device)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60520" y="3218687"/>
            <a:ext cx="0" cy="109728"/>
          </a:xfrm>
          <a:prstGeom prst="line">
            <a:avLst/>
          </a:prstGeom>
          <a:ln w="2540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3328416"/>
            <a:ext cx="8869680" cy="694944"/>
          </a:xfrm>
          <a:prstGeom prst="roundRect">
            <a:avLst>
              <a:gd name="adj" fmla="val 12000"/>
            </a:avLst>
          </a:prstGeom>
          <a:solidFill>
            <a:srgbClr val="EEF0FB"/>
          </a:solidFill>
          <a:ln w="15875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" y="3483864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37413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AI Model Performs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6393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TensorFlow Lite Micro runs on ESP32</a:t>
            </a:r>
          </a:p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Classifies the condition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3401568"/>
            <a:ext cx="2697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40156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33B2"/>
                </a:solidFill>
                <a:latin typeface="Calibri"/>
              </a:rPr>
              <a:t>Model:</a:t>
            </a:r>
          </a:p>
          <a:p>
            <a:pPr algn="l"/>
            <a:r>
              <a:rPr sz="1100" b="0">
                <a:solidFill>
                  <a:srgbClr val="1F4E9A"/>
                </a:solidFill>
                <a:latin typeface="Calibri"/>
              </a:rPr>
              <a:t>TensorFlow Lite Micro (On-device)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60520" y="4023360"/>
            <a:ext cx="0" cy="109728"/>
          </a:xfrm>
          <a:prstGeom prst="line">
            <a:avLst/>
          </a:prstGeom>
          <a:ln w="2540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4133087"/>
            <a:ext cx="8869680" cy="694944"/>
          </a:xfrm>
          <a:prstGeom prst="roundRect">
            <a:avLst>
              <a:gd name="adj" fmla="val 12000"/>
            </a:avLst>
          </a:prstGeom>
          <a:solidFill>
            <a:srgbClr val="EEF0FB"/>
          </a:solidFill>
          <a:ln w="15875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" y="4288536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178807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Classification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443983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NORMAL  or  VIBRATION</a:t>
            </a:r>
          </a:p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Decision made in real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4206240"/>
            <a:ext cx="2697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4206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33B2"/>
                </a:solidFill>
                <a:latin typeface="Calibri"/>
              </a:rPr>
              <a:t>Output:</a:t>
            </a:r>
          </a:p>
          <a:p>
            <a:pPr algn="l"/>
            <a:r>
              <a:rPr sz="1100" b="0">
                <a:solidFill>
                  <a:srgbClr val="1F4E9A"/>
                </a:solidFill>
                <a:latin typeface="Calibri"/>
              </a:rPr>
              <a:t>NORMAL / VIBRATION (On ESP32)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60520" y="4828031"/>
            <a:ext cx="0" cy="109728"/>
          </a:xfrm>
          <a:prstGeom prst="line">
            <a:avLst/>
          </a:prstGeom>
          <a:ln w="2540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22960" y="4937760"/>
            <a:ext cx="8869680" cy="694944"/>
          </a:xfrm>
          <a:prstGeom prst="roundRect">
            <a:avLst>
              <a:gd name="adj" fmla="val 12000"/>
            </a:avLst>
          </a:prstGeom>
          <a:solidFill>
            <a:srgbClr val="EEF0FB"/>
          </a:solidFill>
          <a:ln w="15875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093208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98348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333B2"/>
                </a:solidFill>
                <a:latin typeface="Calibri"/>
              </a:rPr>
              <a:t>Trigger Output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24865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LED shows the detected condition</a:t>
            </a:r>
          </a:p>
          <a:p>
            <a:pPr algn="l"/>
            <a:r>
              <a:rPr sz="1150" b="0">
                <a:solidFill>
                  <a:srgbClr val="1F4E9A"/>
                </a:solidFill>
                <a:latin typeface="Calibri"/>
              </a:rPr>
              <a:t>•  L298N drives the motor (vibration source)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5010912"/>
            <a:ext cx="2697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501091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333B2"/>
                </a:solidFill>
                <a:latin typeface="Calibri"/>
              </a:rPr>
              <a:t>Components:</a:t>
            </a:r>
          </a:p>
          <a:p>
            <a:pPr algn="l"/>
            <a:r>
              <a:rPr sz="1100" b="0">
                <a:solidFill>
                  <a:srgbClr val="1F4E9A"/>
                </a:solidFill>
                <a:latin typeface="Calibri"/>
              </a:rPr>
              <a:t>LED, L298N Motor Driver + DC Motor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60520" y="5632704"/>
            <a:ext cx="0" cy="128016"/>
          </a:xfrm>
          <a:prstGeom prst="line">
            <a:avLst/>
          </a:prstGeom>
          <a:ln w="2540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22960" y="5760720"/>
            <a:ext cx="8869680" cy="512064"/>
          </a:xfrm>
          <a:prstGeom prst="roundRect">
            <a:avLst>
              <a:gd name="adj" fmla="val 50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760720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Repeat Continuously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(Real-time monitoring)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692640" y="6016752"/>
            <a:ext cx="1005840" cy="0"/>
          </a:xfrm>
          <a:prstGeom prst="line">
            <a:avLst/>
          </a:prstGeom>
          <a:ln w="28575">
            <a:solidFill>
              <a:srgbClr val="333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698480" y="1261872"/>
            <a:ext cx="0" cy="4754880"/>
          </a:xfrm>
          <a:prstGeom prst="line">
            <a:avLst/>
          </a:prstGeom>
          <a:ln w="28575">
            <a:solidFill>
              <a:srgbClr val="333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692640" y="1261872"/>
            <a:ext cx="1005840" cy="0"/>
          </a:xfrm>
          <a:prstGeom prst="line">
            <a:avLst/>
          </a:prstGeom>
          <a:ln w="28575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921240" y="292608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12680" y="29260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3333B2"/>
                </a:solidFill>
                <a:latin typeface="Calibri"/>
              </a:rPr>
              <a:t>Continuous sensor reading and inference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CEE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6" name="Image 0" descr="es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49" y="1097280"/>
            <a:ext cx="1277502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1148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microcontroller: reads the sensor, runs the AI model and controls outputs.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00584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CEE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10" name="Image 1" descr="mp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676" y="1097280"/>
            <a:ext cx="1546167" cy="2468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3484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Sensor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41148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+ gyroscope: measures motion and vibration, talks to ESP32 over I2C.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00584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CEE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14" name="Image 2" descr="l29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4751" y="1097280"/>
            <a:ext cx="1341538" cy="2468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2960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Driver + DC Motor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275320" y="41148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switches the motor; the motor is the vibration source used for testing.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55321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with current-limiting resistor  |  Jumper wires and breadboard  |  Power supply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ESP32 Development 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291840" cy="5166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CEE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6" name="Image 0" descr="es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975" y="1188720"/>
            <a:ext cx="2129170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39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ESP-32 module (Wi-Fi + Bluetooth), USB Type-C, EN and BOOT buttons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051560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343400" y="1380744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05156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05156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microcontroller board with the ESP-32 module, USB Type-C port, EN / BOOT buttons and pin headers on both sides.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2093976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343400" y="2423160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09397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used?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2093976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small and cheap, strong enough to run a TinyML model, and has many GPIO pins for the sensor, driver and LED.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06240" y="3136392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343400" y="3465576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3136392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136392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firmware we upload over USB. The firmware reads the sensor, prepares data, runs the AI model and sets GPIO pins HIGH or LOW.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06240" y="4178808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343400" y="4507992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41788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178808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MPU6050 over I2C, runs the TensorFlow Lite Micro model, and drives the L298N (GPIO 27, 26) and the LED.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206240" y="5221224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343400" y="5550408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754880" y="5221224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5221224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decision, NORMAL or VIBRATION, turned into LED and motor signals on its GPIO pins.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MPU6050 Sensor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291840" cy="5166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CEE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6" name="Image 0" descr="mp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87" y="1188720"/>
            <a:ext cx="2576945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39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Motion Sensor Module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VCC, GND, SCL, SDA pins; X, Y, Z axes marked on the board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051560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343400" y="1380744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05156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05156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module with a 3-axis accelerometer and a 3-axis gyroscope. The X, Y and Z directions are printed on the board.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2093976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343400" y="2423160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09397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used?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2093976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is fast shaking. The accelerometer feels the shaking and the gyroscope feels rotation, so together they describe the motion.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06240" y="3136392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343400" y="3465576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3136392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136392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motion on every axis and sends the numbers to the ESP32 over the I2C bus (two wires: SDA for data, SCL for clock).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06240" y="4178808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343400" y="4507992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41788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178808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near the vibration source. VCC goes to 3.3V, GND to GND, SDA and SCL to the ESP32 I2C pins. It gives the live data for the AI.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206240" y="5221224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343400" y="5550408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754880" y="5221224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5221224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raw accelerometer and gyroscope readings sent to the ESP32.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L298N Motor Driver and DC Motor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291840" cy="5166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CEE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6" name="Image 0" descr="l2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12" y="1188720"/>
            <a:ext cx="2235896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39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Driver + DC Motor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heat sink, blue screw terminals, motor with red and white wires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051560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343400" y="1380744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05156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05156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L298N motor driver board (heat sink and blue screw terminals) connected to a small DC motor by red and white wires.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2093976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343400" y="2423160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09397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used?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2093976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pins give only a tiny current, but a motor needs more. The driver works as a switch the ESP32 can control safely.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06240" y="3136392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343400" y="3465576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3136392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136392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IN1 and IN2 receive logic signals from the ESP32. The board then switches the motor supply to the OUT terminals to run the motor.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06240" y="4178808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343400" y="4507992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417880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4178808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27 goes to IN1, GPIO 26 to IN2, and OUT goes to the DC motor. The running motor is the vibration source that MPU6050 senses.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206240" y="5221224"/>
            <a:ext cx="7498080" cy="932688"/>
          </a:xfrm>
          <a:prstGeom prst="roundRect">
            <a:avLst>
              <a:gd name="adj" fmla="val 7843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343400" y="5550408"/>
            <a:ext cx="274320" cy="27432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754880" y="5221224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5221224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movement, which creates the physical vibration used to test NORMAL and VIBRATION conditions.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Hardware Connection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9994392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22225">
            <a:solidFill>
              <a:srgbClr val="3333B2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7280" y="338328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HARDWARE CONNECTION PHOTO WILL BE ADDED HERE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Connections / Pin Details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040880" cy="4114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3.3V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I2C SDA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I2C SCL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clock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GPIO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GPIO 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motor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GPIO via resistor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349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SDA/SCL pins and the LED GPIO follow the firmware configuration.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05156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I2C for MPU6050?</a:t>
            </a:r>
            <a:endParaRPr lang="en-US" sz="14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wires (SDA, SCL) carry all sensor data to the ESP32.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74320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L298N?</a:t>
            </a:r>
            <a:endParaRPr lang="en-US" sz="14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pins cannot supply motor current; the driver switches it.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43484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direct LED?</a:t>
            </a:r>
            <a:endParaRPr lang="en-US" sz="14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LED needs little current, so the GPIO with a resistor is enough.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collection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readings come 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256032" cy="256032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760220"/>
            <a:ext cx="27432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788920" y="10515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readings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097280"/>
            <a:ext cx="256032" cy="256032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760220"/>
            <a:ext cx="27432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074920" y="10515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useful inputs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097280"/>
            <a:ext cx="256032" cy="256032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760220"/>
            <a:ext cx="27432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60920" y="10515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fed to model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097280"/>
            <a:ext cx="256032" cy="256032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72600" y="1760220"/>
            <a:ext cx="27432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646920" y="10515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checks the pattern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1097280"/>
            <a:ext cx="256032" cy="256032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4692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3333B2"/>
          </a:solidFill>
          <a:ln w="15875">
            <a:solidFill>
              <a:srgbClr val="3333B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VIBRATION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2926080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conversion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microcontroller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926080"/>
            <a:ext cx="256032" cy="256032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9372600" y="3589020"/>
            <a:ext cx="27432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07492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 w="15875">
            <a:solidFill>
              <a:srgbClr val="C9CEEE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 deployment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ESP32 firmware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926080"/>
            <a:ext cx="256032" cy="256032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7086600" y="3589020"/>
            <a:ext cx="27432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2788920" y="28803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3333B2"/>
          </a:solidFill>
          <a:ln w="15875">
            <a:solidFill>
              <a:srgbClr val="3333B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on 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on-device inference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2926080"/>
            <a:ext cx="256032" cy="2560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4800600" y="3589020"/>
            <a:ext cx="27432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652760" y="2468880"/>
            <a:ext cx="0" cy="41148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02920" y="4572000"/>
            <a:ext cx="1115568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C9CEE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33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TensorFlow Lite Micro?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074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built for microcontrollers with little memory.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model on the ESP32 itself, without cloud.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074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converted to TensorFlow Lite format.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converted model is placed inside the ESP32 firmware.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Functional Testing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49377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vibration detection helps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machine health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vibration can show a machine is wearing or loose.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vibration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 shaking may point to imbalance or a motor problem.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maintenance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Repairs can be planned before a machine fails.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fault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Unusual vibration can flag a fault early.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vibration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 or frames can be watched for unusual movement.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IoT monitoring systems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nodes can watch many machines and report status.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can show a joint or motor is not running smoothly.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automation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lines can alert or stop when vibration appears.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5257800"/>
          </a:xfrm>
          <a:prstGeom prst="roundRect">
            <a:avLst>
              <a:gd name="adj" fmla="val 1043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5303520" cy="548640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prototype dataset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and environment effects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ESP32 memory and computing resources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data quality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industrial testing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NORMAL vs VIBRATION 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3611880"/>
            <a:ext cx="548640" cy="0"/>
          </a:xfrm>
          <a:prstGeom prst="line">
            <a:avLst/>
          </a:prstGeom>
          <a:noFill/>
          <a:ln w="25400">
            <a:solidFill>
              <a:srgbClr val="3333B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92240" y="1005840"/>
            <a:ext cx="5303520" cy="5257800"/>
          </a:xfrm>
          <a:prstGeom prst="roundRect">
            <a:avLst>
              <a:gd name="adj" fmla="val 1043"/>
            </a:avLst>
          </a:prstGeom>
          <a:solidFill>
            <a:srgbClr val="EEF0FB"/>
          </a:solidFill>
          <a:ln w="1905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92240" y="1005840"/>
            <a:ext cx="5303520" cy="548640"/>
          </a:xfrm>
          <a:prstGeom prst="rect">
            <a:avLst/>
          </a:prstGeom>
          <a:solidFill>
            <a:srgbClr val="3333B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783080"/>
            <a:ext cx="4846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and more diverse datasets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vibration classes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fault-type classification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IoT dashboard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notifications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TinyML models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Battery-powered industrial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65760" y="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515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and MPU6050 form the sensing and processing platform.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84832"/>
            <a:ext cx="329184" cy="329184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0195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used to tell NORMAL from VIBRATION.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35224"/>
            <a:ext cx="329184" cy="329184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52344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Micro allows AI inference on the microcontroller.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85616"/>
            <a:ext cx="329184" cy="329184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02736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made locally on the ESP32, with no cloud needed.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36008"/>
            <a:ext cx="329184" cy="329184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453128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and motor/output give immediate physical feedback.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86400"/>
            <a:ext cx="329184" cy="329184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30352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how edge AI can do low-cost vibration monitoring.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38160" y="105156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3333B2"/>
          </a:solidFill>
          <a:ln w="12700">
            <a:solidFill>
              <a:srgbClr val="3333B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366760" y="1280160"/>
            <a:ext cx="3108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embedded AI prototype that detects vibration in real time and responds physically, showing that low-cost edge AI is practical for machine and structure monitoring.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725912" cy="2194560"/>
          </a:xfrm>
          <a:prstGeom prst="roundRect">
            <a:avLst>
              <a:gd name="adj" fmla="val 4167"/>
            </a:avLst>
          </a:prstGeom>
          <a:solidFill>
            <a:srgbClr val="3333B2"/>
          </a:solidFill>
          <a:ln>
            <a:solidFill>
              <a:srgbClr val="3333B2"/>
            </a:solidFill>
          </a:ln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Vibration Detection System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F4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ESP32 and MPU6050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1401</Words>
  <Application>Microsoft Office PowerPoint</Application>
  <PresentationFormat>Widescreen</PresentationFormat>
  <Paragraphs>288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Sunny I</cp:lastModifiedBy>
  <cp:revision>4</cp:revision>
  <dcterms:created xsi:type="dcterms:W3CDTF">2026-09-29T05:52:12Z</dcterms:created>
  <dcterms:modified xsi:type="dcterms:W3CDTF">2026-09-29T06:30:15Z</dcterms:modified>
</cp:coreProperties>
</file>